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3"/>
    <p:sldId id="257" r:id="rId4"/>
    <p:sldId id="258" r:id="rId5"/>
    <p:sldId id="259" r:id="rId6"/>
    <p:sldId id="260" r:id="rId7"/>
    <p:sldId id="261" r:id="rId8"/>
    <p:sldId id="262" r:id="rId9"/>
    <p:sldId id="263" r:id="rId1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30873554-6fc6-4dcc-98c1-4e1347258695}">
          <p14:sldIdLst>
            <p14:sldId id="256"/>
            <p14:sldId id="257"/>
            <p14:sldId id="258"/>
            <p14:sldId id="259"/>
            <p14:sldId id="260"/>
            <p14:sldId id="261"/>
            <p14:sldId id="262"/>
            <p14:sldId id="263"/>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3" Type="http://schemas.openxmlformats.org/officeDocument/2006/relationships/tableStyles" Target="tableStyles.xml"/><Relationship Id="rId12" Type="http://schemas.openxmlformats.org/officeDocument/2006/relationships/viewProps" Target="viewProps.xml"/><Relationship Id="rId11" Type="http://schemas.openxmlformats.org/officeDocument/2006/relationships/presProps" Target="presProps.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a:r>
              <a:rPr>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Fraudulent Claim Detection</a:t>
            </a:r>
            <a:endParaRPr>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endParaRPr>
          </a:p>
        </p:txBody>
      </p:sp>
      <p:sp>
        <p:nvSpPr>
          <p:cNvPr id="5" name="Text Box 4"/>
          <p:cNvSpPr txBox="1"/>
          <p:nvPr/>
        </p:nvSpPr>
        <p:spPr>
          <a:xfrm>
            <a:off x="5739130" y="5163820"/>
            <a:ext cx="2719070" cy="922020"/>
          </a:xfrm>
          <a:prstGeom prst="rect">
            <a:avLst/>
          </a:prstGeom>
          <a:noFill/>
        </p:spPr>
        <p:txBody>
          <a:bodyPr wrap="square" rtlCol="0">
            <a:spAutoFit/>
          </a:bodyPr>
          <a:p>
            <a:r>
              <a:rPr lang="en-US">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rPr>
              <a:t>Group By: </a:t>
            </a:r>
            <a:endParaRPr lang="en-US">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endParaRPr>
          </a:p>
          <a:p>
            <a:r>
              <a:rPr lang="en-US">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rPr>
              <a:t>Purushothama Reddy J</a:t>
            </a:r>
            <a:endParaRPr lang="en-US">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endParaRPr>
          </a:p>
          <a:p>
            <a:r>
              <a:rPr lang="en-US">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rPr>
              <a:t>Yerukula Raghavendra</a:t>
            </a:r>
            <a:endParaRPr lang="en-US">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rPr>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Problem Statement</a:t>
            </a:r>
            <a:endParaRPr>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endParaRPr>
          </a:p>
        </p:txBody>
      </p:sp>
      <p:sp>
        <p:nvSpPr>
          <p:cNvPr id="3" name="Content Placeholder 2"/>
          <p:cNvSpPr>
            <a:spLocks noGrp="1"/>
          </p:cNvSpPr>
          <p:nvPr>
            <p:ph idx="1"/>
          </p:nvPr>
        </p:nvSpPr>
        <p:spPr>
          <a:xfrm>
            <a:off x="457200" y="1600200"/>
            <a:ext cx="8413115" cy="4526280"/>
          </a:xfrm>
        </p:spPr>
        <p:txBody>
          <a:bodyPr>
            <a:normAutofit fontScale="60000"/>
          </a:bodyPr>
          <a:lstStyle/>
          <a:p>
            <a:r>
              <a:t>The objective is to develop a machine learning model to detect fraudulent insurance claims, helping insurance companies reduce financial losses and streamline operations.</a:t>
            </a:r>
          </a:p>
          <a:p>
            <a:r>
              <a:t>Global Insure, a leading insurance company, processes thousands of claims annually. However, a significant percentage of these claims turn out to be fraudulent, resulting in considerable financial losses. </a:t>
            </a:r>
          </a:p>
          <a:p>
            <a:r>
              <a:t>The company’s current process for identifying fraudulent claims involves manual inspections, which is time-consuming and inefficient. Fraudulent claims are often detected too late in the process, after the company has already paid out significant amounts. Global Insure wants to improve its fraud detection process using data-driven insights to classify claims as fraudulent or legitimate early in the approval process. This would minimize financial losses and optimism the overall claims handling process.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rPr>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Methodology</a:t>
            </a:r>
            <a:endParaRPr>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endParaRPr>
          </a:p>
        </p:txBody>
      </p:sp>
      <p:sp>
        <p:nvSpPr>
          <p:cNvPr id="3" name="Content Placeholder 2"/>
          <p:cNvSpPr>
            <a:spLocks noGrp="1"/>
          </p:cNvSpPr>
          <p:nvPr>
            <p:ph idx="1"/>
          </p:nvPr>
        </p:nvSpPr>
        <p:spPr/>
        <p:txBody>
          <a:bodyPr/>
          <a:lstStyle/>
          <a:p>
            <a:r>
              <a:t>Data Cleaning and Preprocessing</a:t>
            </a:r>
            <a:r>
              <a:rPr lang="en-US"/>
              <a:t>.</a:t>
            </a:r>
          </a:p>
          <a:p>
            <a:r>
              <a:t>Feature Engineering and Encoding</a:t>
            </a:r>
            <a:r>
              <a:rPr lang="en-US"/>
              <a:t>.</a:t>
            </a:r>
          </a:p>
          <a:p>
            <a:r>
              <a:t>Model Training using ML algorithms</a:t>
            </a:r>
            <a:r>
              <a:rPr lang="en-US"/>
              <a:t>.</a:t>
            </a:r>
          </a:p>
          <a:p>
            <a:r>
              <a:t>Model Evaluation using accuracy, precision, recall, F1 score</a:t>
            </a:r>
            <a:r>
              <a:rPr lang="en-US"/>
              <a:t>.</a:t>
            </a:r>
          </a:p>
          <a:p>
            <a:r>
              <a:rPr lang="en-US"/>
              <a:t>Cross Validation.</a:t>
            </a: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rPr>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Techniques Used</a:t>
            </a:r>
            <a:endParaRPr>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endParaRPr>
          </a:p>
        </p:txBody>
      </p:sp>
      <p:sp>
        <p:nvSpPr>
          <p:cNvPr id="3" name="Content Placeholder 2"/>
          <p:cNvSpPr>
            <a:spLocks noGrp="1"/>
          </p:cNvSpPr>
          <p:nvPr>
            <p:ph idx="1"/>
          </p:nvPr>
        </p:nvSpPr>
        <p:spPr/>
        <p:txBody>
          <a:bodyPr/>
          <a:lstStyle/>
          <a:p>
            <a:r>
              <a:t>Logistic Regression,Random Forests</a:t>
            </a:r>
            <a:r>
              <a:rPr lang="en-US"/>
              <a:t>.</a:t>
            </a:r>
          </a:p>
          <a:p>
            <a:r>
              <a:t>Handling class imbalance</a:t>
            </a:r>
            <a:r>
              <a:rPr lang="en-US"/>
              <a:t>.</a:t>
            </a:r>
          </a:p>
          <a:p>
            <a:r>
              <a:t>Exploratory Data Analysis</a:t>
            </a:r>
            <a:r>
              <a:rPr lang="en-US"/>
              <a:t>.</a:t>
            </a:r>
          </a:p>
          <a:p>
            <a:r>
              <a:t>Feature Importance Analysis</a:t>
            </a:r>
            <a:r>
              <a:rPr lang="en-US"/>
              <a:t>.</a:t>
            </a:r>
          </a:p>
          <a:p>
            <a:r>
              <a:rPr lang="en-US"/>
              <a:t>Model Evaluation and Validation.</a:t>
            </a:r>
            <a:endParaRPr lang="en-US"/>
          </a:p>
          <a:p>
            <a:r>
              <a:rPr lang="en-US"/>
              <a:t>Tools and technologies used.</a:t>
            </a:r>
            <a:endParaRPr lang="en-US"/>
          </a:p>
          <a:p>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rPr>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Summary of Findings</a:t>
            </a:r>
            <a:endParaRPr>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endParaRPr>
          </a:p>
        </p:txBody>
      </p:sp>
      <p:sp>
        <p:nvSpPr>
          <p:cNvPr id="3" name="Content Placeholder 2"/>
          <p:cNvSpPr>
            <a:spLocks noGrp="1"/>
          </p:cNvSpPr>
          <p:nvPr>
            <p:ph idx="1"/>
          </p:nvPr>
        </p:nvSpPr>
        <p:spPr/>
        <p:txBody>
          <a:bodyPr>
            <a:normAutofit lnSpcReduction="10000"/>
          </a:bodyPr>
          <a:lstStyle/>
          <a:p>
            <a:r>
              <a:rPr lang="en-US"/>
              <a:t>The model performance is high level in accuracy so that easy to differantaiate between legitimate and fraudulent claims.</a:t>
            </a:r>
          </a:p>
          <a:p>
            <a:r>
              <a:t>Certain features like 'incident_type' and 'policy_bind_date' are strong fraud indicators</a:t>
            </a:r>
            <a:r>
              <a:rPr lang="en-US"/>
              <a:t>.</a:t>
            </a:r>
          </a:p>
          <a:p>
            <a:r>
              <a:t>Model successfully identifies potentially fraudulent claims</a:t>
            </a:r>
            <a:r>
              <a:rPr lang="en-US"/>
              <a:t>.</a:t>
            </a:r>
          </a:p>
          <a:p>
            <a:r>
              <a:t>Data preprocessing significantly improved model performance</a:t>
            </a:r>
            <a:r>
              <a:rPr lang="en-US"/>
              <a:t>.</a:t>
            </a: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rPr>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Recommendations</a:t>
            </a:r>
            <a:endParaRPr>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endParaRPr>
          </a:p>
        </p:txBody>
      </p:sp>
      <p:sp>
        <p:nvSpPr>
          <p:cNvPr id="3" name="Content Placeholder 2"/>
          <p:cNvSpPr>
            <a:spLocks noGrp="1"/>
          </p:cNvSpPr>
          <p:nvPr>
            <p:ph idx="1"/>
          </p:nvPr>
        </p:nvSpPr>
        <p:spPr/>
        <p:txBody>
          <a:bodyPr/>
          <a:lstStyle/>
          <a:p>
            <a:r>
              <a:t>Deploy the model in production to assist claim validation</a:t>
            </a:r>
          </a:p>
          <a:p>
            <a:r>
              <a:t>Routinely retrain model with new data for adaptability</a:t>
            </a:r>
            <a:r>
              <a:rPr lang="en-US"/>
              <a:t>.</a:t>
            </a:r>
          </a:p>
          <a:p>
            <a:r>
              <a:t>Flag high-risk claims for manual review</a:t>
            </a:r>
            <a:r>
              <a:rPr lang="en-US"/>
              <a:t>.</a:t>
            </a:r>
            <a:endParaRPr lang="en-US"/>
          </a:p>
          <a:p>
            <a:r>
              <a:rPr lang="en-US"/>
              <a:t>Continuing the data quality and preprocessing techniques will be crucial for maintance and model performance.</a:t>
            </a: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rPr>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Business Implications</a:t>
            </a:r>
            <a:endParaRPr>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endParaRPr>
          </a:p>
        </p:txBody>
      </p:sp>
      <p:sp>
        <p:nvSpPr>
          <p:cNvPr id="3" name="Content Placeholder 2"/>
          <p:cNvSpPr>
            <a:spLocks noGrp="1"/>
          </p:cNvSpPr>
          <p:nvPr>
            <p:ph idx="1"/>
          </p:nvPr>
        </p:nvSpPr>
        <p:spPr/>
        <p:txBody>
          <a:bodyPr/>
          <a:lstStyle/>
          <a:p>
            <a:r>
              <a:t>Reduced fraudulent payouts = cost savings</a:t>
            </a:r>
            <a:r>
              <a:rPr lang="en-US"/>
              <a:t>.</a:t>
            </a:r>
          </a:p>
          <a:p>
            <a:r>
              <a:t>Enhanced fraud detection boosts credibility</a:t>
            </a:r>
            <a:r>
              <a:rPr lang="en-US"/>
              <a:t>.</a:t>
            </a:r>
          </a:p>
          <a:p>
            <a:r>
              <a:t>Efficient claims processing improves customer satisfaction</a:t>
            </a:r>
            <a:r>
              <a:rPr lang="en-US"/>
              <a:t>.</a:t>
            </a:r>
            <a:endParaRPr lang="en-US"/>
          </a:p>
          <a:p>
            <a:r>
              <a:rPr lang="en-US"/>
              <a:t>The devloped model is a valuable tool for identifying and preventing fraudulent claims.</a:t>
            </a:r>
            <a:endParaRPr lang="en-US"/>
          </a:p>
          <a:p>
            <a:r>
              <a:rPr lang="en-US"/>
              <a:t>By continue research and development easy to detect the fraud and protecting consumers.</a:t>
            </a: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776605" y="2823845"/>
            <a:ext cx="7272020" cy="1210310"/>
          </a:xfrm>
        </p:spPr>
        <p:txBody>
          <a:bodyPr/>
          <a:p>
            <a:r>
              <a:rPr lang="en-US">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THANK YOU</a:t>
            </a:r>
            <a:endParaRPr lang="en-US">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2325</Words>
  <Application>WPS Presentation</Application>
  <PresentationFormat>On-screen Show (4:3)</PresentationFormat>
  <Paragraphs>54</Paragraphs>
  <Slides>8</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8</vt:i4>
      </vt:variant>
    </vt:vector>
  </HeadingPairs>
  <TitlesOfParts>
    <vt:vector size="16" baseType="lpstr">
      <vt:lpstr>Arial</vt:lpstr>
      <vt:lpstr>SimSun</vt:lpstr>
      <vt:lpstr>Wingdings</vt:lpstr>
      <vt:lpstr>Arial</vt:lpstr>
      <vt:lpstr>Calibri</vt:lpstr>
      <vt:lpstr>Microsoft YaHei</vt:lpstr>
      <vt:lpstr>Arial Unicode MS</vt:lpstr>
      <vt:lpstr>Office Theme</vt:lpstr>
      <vt:lpstr>Fraudulent Claim Detection</vt:lpstr>
      <vt:lpstr>Problem Statement</vt:lpstr>
      <vt:lpstr>Methodology</vt:lpstr>
      <vt:lpstr>Techniques Used</vt:lpstr>
      <vt:lpstr>Summary of Findings</vt:lpstr>
      <vt:lpstr>Recommendations</vt:lpstr>
      <vt:lpstr>Business Implications</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Lenovo</cp:lastModifiedBy>
  <cp:revision>10</cp:revision>
  <dcterms:created xsi:type="dcterms:W3CDTF">2013-01-27T09:14:00Z</dcterms:created>
  <dcterms:modified xsi:type="dcterms:W3CDTF">2025-04-30T03:46:58Z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1033-10.2.0.7636</vt:lpwstr>
  </property>
</Properties>
</file>